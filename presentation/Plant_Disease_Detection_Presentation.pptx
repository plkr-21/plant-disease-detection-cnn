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E5B3A"/>
                </a:solidFill>
              </a:defRPr>
            </a:pPr>
            <a:r>
              <a:t>PLANT DISEASE DETECTION</a:t>
            </a:r>
          </a:p>
          <a:p>
            <a:pPr algn="ctr">
              <a:defRPr sz="2200">
                <a:solidFill>
                  <a:srgbClr val="26332C"/>
                </a:solidFill>
              </a:defRPr>
            </a:pPr>
            <a:r>
              <a:t>Using Convolutional Neural Networks (CNN)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5665B"/>
                </a:solidFill>
              </a:defRPr>
            </a:pPr>
            <a:r>
              <a:t>Deep Learning Laboratory Project</a:t>
            </a:r>
          </a:p>
          <a:p>
            <a:pPr algn="ctr">
              <a:defRPr sz="1400">
                <a:solidFill>
                  <a:srgbClr val="55665B"/>
                </a:solidFill>
              </a:defRPr>
            </a:pPr>
            <a:r>
              <a:t>P. Laxmi Kanth Reddy | B.Tech CSE | 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B3A"/>
                </a:solidFill>
              </a:defRPr>
            </a:pPr>
            <a:r>
              <a:t>1.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Plant diseases can reduce crop quality and yield; visual identification may be difficult for non-experts.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Goal: classify leaf images into selected healthy/diseased categories using a CNN.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Dataset: PlantVillage, using a manageable subset of 3–5 classes.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Objectives: preprocess images, train a model, evaluate performance, and demonstrate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B3A"/>
                </a:solidFill>
              </a:defRPr>
            </a:pPr>
            <a:r>
              <a:t>2. Methodology: 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32C"/>
                </a:solidFill>
              </a:defRPr>
            </a:pPr>
            <a:r>
              <a:t>Input: RGB images resized to 128 × 128 and normalized to [0, 1].</a:t>
            </a:r>
          </a:p>
          <a:p>
            <a:pPr>
              <a:spcAft>
                <a:spcPts val="1300"/>
              </a:spcAft>
              <a:defRPr sz="1800">
                <a:solidFill>
                  <a:srgbClr val="26332C"/>
                </a:solidFill>
              </a:defRPr>
            </a:pPr>
            <a:r>
              <a:t>Split: approximately 70% training, 15% validation, 15% test; inspect class counts and duplicates.</a:t>
            </a:r>
          </a:p>
          <a:p>
            <a:pPr>
              <a:spcAft>
                <a:spcPts val="1300"/>
              </a:spcAft>
              <a:defRPr sz="1800">
                <a:solidFill>
                  <a:srgbClr val="26332C"/>
                </a:solidFill>
              </a:defRPr>
            </a:pPr>
            <a:r>
              <a:t>CNN: Conv2D (32) → Pooling → Conv2D (64) → Pooling → Conv2D (128) → Pooling.</a:t>
            </a:r>
          </a:p>
          <a:p>
            <a:pPr>
              <a:spcAft>
                <a:spcPts val="1300"/>
              </a:spcAft>
              <a:defRPr sz="1800">
                <a:solidFill>
                  <a:srgbClr val="26332C"/>
                </a:solidFill>
              </a:defRPr>
            </a:pPr>
            <a:r>
              <a:t>Classifier: Global Average Pooling → Dense(128) → Dropout → Softmax output.</a:t>
            </a:r>
          </a:p>
          <a:p>
            <a:pPr>
              <a:spcAft>
                <a:spcPts val="1300"/>
              </a:spcAft>
              <a:defRPr sz="1800">
                <a:solidFill>
                  <a:srgbClr val="26332C"/>
                </a:solidFill>
              </a:defRPr>
            </a:pPr>
            <a:r>
              <a:t>Training: Adam, sparse categorical cross-entropy, augmentation, and early stopping.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B3A"/>
                </a:solidFill>
              </a:defRPr>
            </a:pPr>
            <a:r>
              <a:t>3. 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5B"/>
                </a:solidFill>
              </a:defRPr>
            </a:pPr>
            <a:r>
              <a:t>Fill in measured values after running train.py and evaluate.py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337560" cy="1325880"/>
          </a:xfrm>
          <a:prstGeom prst="roundRect">
            <a:avLst/>
          </a:prstGeom>
          <a:solidFill>
            <a:srgbClr val="EDF5EF"/>
          </a:solidFill>
          <a:ln>
            <a:solidFill>
              <a:srgbClr val="CC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5B3A"/>
                </a:solidFill>
              </a:defRPr>
            </a:pPr>
            <a:r>
              <a:t>Test accuracy</a:t>
            </a:r>
          </a:p>
          <a:p>
            <a:pPr algn="ctr">
              <a:defRPr sz="1300">
                <a:solidFill>
                  <a:srgbClr val="26332C"/>
                </a:solidFill>
              </a:defRPr>
            </a:pPr>
            <a:r>
              <a:t>[enter measured value]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508760"/>
            <a:ext cx="3337560" cy="1325880"/>
          </a:xfrm>
          <a:prstGeom prst="roundRect">
            <a:avLst/>
          </a:prstGeom>
          <a:solidFill>
            <a:srgbClr val="EDF5EF"/>
          </a:solidFill>
          <a:ln>
            <a:solidFill>
              <a:srgbClr val="CC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5B3A"/>
                </a:solidFill>
              </a:defRPr>
            </a:pPr>
            <a:r>
              <a:t>Macro F1-score</a:t>
            </a:r>
          </a:p>
          <a:p>
            <a:pPr algn="ctr">
              <a:defRPr sz="1300">
                <a:solidFill>
                  <a:srgbClr val="26332C"/>
                </a:solidFill>
              </a:defRPr>
            </a:pPr>
            <a:r>
              <a:t>[enter measured value]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508760"/>
            <a:ext cx="3337560" cy="1325880"/>
          </a:xfrm>
          <a:prstGeom prst="roundRect">
            <a:avLst/>
          </a:prstGeom>
          <a:solidFill>
            <a:srgbClr val="EDF5EF"/>
          </a:solidFill>
          <a:ln>
            <a:solidFill>
              <a:srgbClr val="CC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6916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5B3A"/>
                </a:solidFill>
              </a:defRPr>
            </a:pPr>
            <a:r>
              <a:t>Training time</a:t>
            </a:r>
          </a:p>
          <a:p>
            <a:pPr algn="ctr">
              <a:defRPr sz="1300">
                <a:solidFill>
                  <a:srgbClr val="26332C"/>
                </a:solidFill>
              </a:defRPr>
            </a:pPr>
            <a:r>
              <a:t>[record observed time]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32C"/>
                </a:solidFill>
              </a:defRPr>
            </a:pPr>
            <a:r>
              <a:t>Insert outputs/learning_curves.png and outputs/confusion_matrix.png into the final version.</a:t>
            </a:r>
          </a:p>
          <a:p>
            <a:pPr>
              <a:spcAft>
                <a:spcPts val="1300"/>
              </a:spcAft>
              <a:defRPr sz="1700">
                <a:solidFill>
                  <a:srgbClr val="26332C"/>
                </a:solidFill>
              </a:defRPr>
            </a:pPr>
            <a:r>
              <a:t>Discuss misclassified classes, per-class precision/recall/F1, and possible overfitting.</a:t>
            </a:r>
          </a:p>
          <a:p>
            <a:pPr>
              <a:spcAft>
                <a:spcPts val="1300"/>
              </a:spcAft>
              <a:defRPr sz="1700">
                <a:solidFill>
                  <a:srgbClr val="26332C"/>
                </a:solidFill>
              </a:defRPr>
            </a:pPr>
            <a:r>
              <a:t>Do not claim accuracy before running the experiment.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B3A"/>
                </a:solidFill>
              </a:defRPr>
            </a:pPr>
            <a:r>
              <a:t>4.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Demonstrates an end-to-end CNN workflow: data preparation, training, evaluation, and inference.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A Streamlit interface lets users upload a leaf image and view the model prediction.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Limitations: controlled dataset images may not represent field conditions; this is an educational prototype.</a:t>
            </a:r>
          </a:p>
          <a:p>
            <a:pPr>
              <a:spcAft>
                <a:spcPts val="1300"/>
              </a:spcAft>
              <a:defRPr sz="1900">
                <a:solidFill>
                  <a:srgbClr val="26332C"/>
                </a:solidFill>
              </a:defRPr>
            </a:pPr>
            <a:r>
              <a:t>Future work: transfer learning, Grad-CAM explanations, diverse images, and external field-image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